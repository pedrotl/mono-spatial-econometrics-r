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c77b812c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c77b812c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9c77b812c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9c77b812c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c298028b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ec298028b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c298028b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c298028b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c298028b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ec298028b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c70f1628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c70f1628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c298028bc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c298028bc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c298028bc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ec298028bc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ec298028bc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ec298028bc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ec70f1628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ec70f1628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c298028b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c298028bc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ec70f1628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ec70f1628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c70f1628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c70f1628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c70f1628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ec70f1628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c298028b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c298028b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ec298028b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ec298028b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ec298028bc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ec298028bc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ec70f1628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ec70f1628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ec298028b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ec298028b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c298028bc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c298028bc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c298028bc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c298028bc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ec298028bc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ec298028bc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c70f1628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c70f1628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563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1563689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1563581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787175" y="52245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0"/>
            <a:ext cx="9144000" cy="96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53" name="Google Shape;53;p10"/>
          <p:cNvCxnSpPr/>
          <p:nvPr/>
        </p:nvCxnSpPr>
        <p:spPr>
          <a:xfrm rot="10799887">
            <a:off x="-4197" y="799934"/>
            <a:ext cx="9152400" cy="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Google Shape;54;p10"/>
          <p:cNvCxnSpPr/>
          <p:nvPr/>
        </p:nvCxnSpPr>
        <p:spPr>
          <a:xfrm rot="10800000" flipH="1">
            <a:off x="3462105" y="-16272"/>
            <a:ext cx="13800" cy="82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0"/>
          <p:cNvCxnSpPr/>
          <p:nvPr/>
        </p:nvCxnSpPr>
        <p:spPr>
          <a:xfrm rot="10800000" flipH="1">
            <a:off x="6867905" y="-16272"/>
            <a:ext cx="13800" cy="82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4294967295"/>
          </p:nvPr>
        </p:nvSpPr>
        <p:spPr>
          <a:xfrm>
            <a:off x="311700" y="967275"/>
            <a:ext cx="5034300" cy="12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44"/>
              <a:t>Defesa Monografia</a:t>
            </a:r>
            <a:endParaRPr sz="44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1831125" y="0"/>
            <a:ext cx="17931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</a:rPr>
              <a:t>05, dezembro, 2023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1610425" y="294525"/>
            <a:ext cx="19503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8">
                <a:solidFill>
                  <a:schemeClr val="dk1"/>
                </a:solidFill>
              </a:rPr>
              <a:t>EcoN - PUC-Campinas</a:t>
            </a:r>
            <a:endParaRPr sz="1308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>
            <a:off x="5908525" y="4075"/>
            <a:ext cx="10353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8" b="1">
                <a:solidFill>
                  <a:schemeClr val="dk1"/>
                </a:solidFill>
              </a:rPr>
              <a:t>Orientador</a:t>
            </a:r>
            <a:endParaRPr sz="1308" b="1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4382700" y="294525"/>
            <a:ext cx="34758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8">
                <a:solidFill>
                  <a:schemeClr val="dk1"/>
                </a:solidFill>
              </a:rPr>
              <a:t>Prof. Pedro de Miranda Costa</a:t>
            </a:r>
            <a:endParaRPr sz="1308"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8190100" y="4088"/>
            <a:ext cx="10353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8" b="1" dirty="0">
                <a:solidFill>
                  <a:schemeClr val="dk1"/>
                </a:solidFill>
              </a:rPr>
              <a:t>Estudante</a:t>
            </a:r>
            <a:endParaRPr sz="1308" b="1" dirty="0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7257270" y="294525"/>
            <a:ext cx="20061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25" dirty="0">
                <a:solidFill>
                  <a:schemeClr val="dk1"/>
                </a:solidFill>
              </a:rPr>
              <a:t>João Pedro T. T. Lucas</a:t>
            </a:r>
            <a:endParaRPr sz="1425" dirty="0">
              <a:solidFill>
                <a:schemeClr val="dk1"/>
              </a:solidFill>
            </a:endParaRP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4294967295"/>
          </p:nvPr>
        </p:nvSpPr>
        <p:spPr>
          <a:xfrm>
            <a:off x="311700" y="2071275"/>
            <a:ext cx="8388900" cy="19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DETERMINANTES DO CRIME NO SUDESTE BRASILEIRO: APLICAÇÃO DE TÉCNICAS DE ECONOMETRIA ESPACIAL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  <p:cxnSp>
        <p:nvCxnSpPr>
          <p:cNvPr id="75" name="Google Shape;75;p13"/>
          <p:cNvCxnSpPr/>
          <p:nvPr/>
        </p:nvCxnSpPr>
        <p:spPr>
          <a:xfrm>
            <a:off x="311700" y="1751300"/>
            <a:ext cx="5034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75527"/>
            <a:ext cx="1496125" cy="9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1759575" y="1153375"/>
            <a:ext cx="5063400" cy="3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INTRODUÇÃO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REFERENCIAL TEÓRICO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REVISÃO DA LITERATURA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METODOLOGIA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RESULTADOS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UcPeriod"/>
            </a:pPr>
            <a:r>
              <a:rPr lang="pt-BR" sz="2000">
                <a:solidFill>
                  <a:schemeClr val="dk1"/>
                </a:solidFill>
              </a:rPr>
              <a:t>CONCLUSÕES E DISCUSSÕES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4294967295"/>
          </p:nvPr>
        </p:nvSpPr>
        <p:spPr>
          <a:xfrm>
            <a:off x="1759575" y="266675"/>
            <a:ext cx="2889000" cy="58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CONTEÚDOS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7827375" y="1153375"/>
            <a:ext cx="1059600" cy="3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00"/>
                </a:solidFill>
              </a:rPr>
              <a:t>141722294359</a:t>
            </a:r>
            <a:endParaRPr sz="20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cxnSp>
        <p:nvCxnSpPr>
          <p:cNvPr id="84" name="Google Shape;84;p14"/>
          <p:cNvCxnSpPr/>
          <p:nvPr/>
        </p:nvCxnSpPr>
        <p:spPr>
          <a:xfrm rot="10800000">
            <a:off x="3868900" y="1494350"/>
            <a:ext cx="448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4"/>
          <p:cNvCxnSpPr/>
          <p:nvPr/>
        </p:nvCxnSpPr>
        <p:spPr>
          <a:xfrm flipH="1">
            <a:off x="5016175" y="1842063"/>
            <a:ext cx="3322500" cy="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14"/>
          <p:cNvCxnSpPr/>
          <p:nvPr/>
        </p:nvCxnSpPr>
        <p:spPr>
          <a:xfrm rot="10800000">
            <a:off x="5239975" y="2192175"/>
            <a:ext cx="30987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4"/>
          <p:cNvCxnSpPr/>
          <p:nvPr/>
        </p:nvCxnSpPr>
        <p:spPr>
          <a:xfrm flipH="1">
            <a:off x="4086450" y="2553225"/>
            <a:ext cx="42633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4"/>
          <p:cNvCxnSpPr/>
          <p:nvPr/>
        </p:nvCxnSpPr>
        <p:spPr>
          <a:xfrm rot="10800000">
            <a:off x="3869100" y="2895625"/>
            <a:ext cx="44622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flipH="1">
            <a:off x="5659525" y="3274800"/>
            <a:ext cx="2660700" cy="1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I. INTRODUÇÃO</a:t>
            </a: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5416500" cy="41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CRIMINOLOGIA</a:t>
            </a:r>
            <a:endParaRPr sz="1700" b="1">
              <a:solidFill>
                <a:srgbClr val="000000"/>
              </a:solidFill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>
                <a:solidFill>
                  <a:srgbClr val="000000"/>
                </a:solidFill>
              </a:rPr>
              <a:t>Criminoso como elemento central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CONTRIBUIÇÕES</a:t>
            </a:r>
            <a:endParaRPr sz="1700" b="1">
              <a:solidFill>
                <a:srgbClr val="000000"/>
              </a:solidFill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>
                <a:solidFill>
                  <a:srgbClr val="000000"/>
                </a:solidFill>
              </a:rPr>
              <a:t>Sociologia, Psicologia, Economia 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OBJETIVO</a:t>
            </a:r>
            <a:endParaRPr sz="1700" b="1">
              <a:solidFill>
                <a:srgbClr val="000000"/>
              </a:solidFill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>
                <a:solidFill>
                  <a:srgbClr val="000000"/>
                </a:solidFill>
              </a:rPr>
              <a:t>Estudar a economia do crime</a:t>
            </a:r>
            <a:r>
              <a:rPr lang="pt-BR" sz="1700">
                <a:solidFill>
                  <a:srgbClr val="000000"/>
                </a:solidFill>
              </a:rPr>
              <a:t>, com referencial teórico pautado na teoria de Becker (1968), </a:t>
            </a:r>
            <a:r>
              <a:rPr lang="pt-BR" sz="1700" b="1">
                <a:solidFill>
                  <a:srgbClr val="000000"/>
                </a:solidFill>
              </a:rPr>
              <a:t>utilizando de modelagem a econometria espacial e Análise Exploratória de Dados Espaciais (AEDE)</a:t>
            </a:r>
            <a:r>
              <a:rPr lang="pt-BR" sz="1700">
                <a:solidFill>
                  <a:srgbClr val="000000"/>
                </a:solidFill>
              </a:rPr>
              <a:t> para identificar a relação das principais variáveis socioeconômicos com homicídio na região Sudeste do Brasil.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550" y="1043288"/>
            <a:ext cx="1836974" cy="18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3348" y="1043295"/>
            <a:ext cx="1721800" cy="160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5000" y="2869963"/>
            <a:ext cx="2103175" cy="20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REFERENCIAL TEÓRICO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5063400" cy="36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ECONOMIA DO CRIME</a:t>
            </a:r>
            <a:endParaRPr sz="1700" b="1">
              <a:solidFill>
                <a:srgbClr val="000000"/>
              </a:solidFill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>
                <a:solidFill>
                  <a:srgbClr val="000000"/>
                </a:solidFill>
              </a:rPr>
              <a:t>Gary Stanley Becker. Professor na Universidade de Chicago.</a:t>
            </a:r>
            <a:endParaRPr sz="1700">
              <a:solidFill>
                <a:srgbClr val="000000"/>
              </a:solidFill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>
                <a:solidFill>
                  <a:srgbClr val="000000"/>
                </a:solidFill>
              </a:rPr>
              <a:t>Análise microeconômica para comportamento e interação humana.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700" i="1">
                <a:solidFill>
                  <a:srgbClr val="000000"/>
                </a:solidFill>
              </a:rPr>
              <a:t>“I was not sympathetic to the assumption that criminals had radically different motivations from everyone else.”</a:t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6550" y="1065374"/>
            <a:ext cx="2975749" cy="223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REFERENCIAL TEÓRICO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4001100" cy="39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GARY BECKER </a:t>
            </a:r>
            <a:endParaRPr sz="1700" b="1" dirty="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dirty="0">
                <a:solidFill>
                  <a:srgbClr val="000000"/>
                </a:solidFill>
              </a:rPr>
              <a:t>Analisa a escolha de um indivíduo de cometer ou não um crime.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𝑏 &gt; 𝑐𝑝</a:t>
            </a:r>
            <a:endParaRPr sz="1700" b="1" dirty="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 dirty="0">
                <a:solidFill>
                  <a:srgbClr val="000000"/>
                </a:solidFill>
              </a:rPr>
              <a:t>𝑏</a:t>
            </a:r>
            <a:r>
              <a:rPr lang="pt-BR" sz="1700" dirty="0">
                <a:solidFill>
                  <a:srgbClr val="000000"/>
                </a:solidFill>
              </a:rPr>
              <a:t>: benefício gerado ao criminoso por praticar o delito</a:t>
            </a:r>
            <a:endParaRPr sz="1700" dirty="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 dirty="0">
                <a:solidFill>
                  <a:srgbClr val="000000"/>
                </a:solidFill>
              </a:rPr>
              <a:t>𝑐</a:t>
            </a:r>
            <a:r>
              <a:rPr lang="pt-BR" sz="1700" dirty="0">
                <a:solidFill>
                  <a:srgbClr val="000000"/>
                </a:solidFill>
              </a:rPr>
              <a:t>: custos da atividade criminosa</a:t>
            </a:r>
            <a:endParaRPr sz="1700" dirty="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 dirty="0">
                <a:solidFill>
                  <a:srgbClr val="000000"/>
                </a:solidFill>
              </a:rPr>
              <a:t>𝑝</a:t>
            </a:r>
            <a:r>
              <a:rPr lang="pt-BR" sz="1700" dirty="0">
                <a:solidFill>
                  <a:srgbClr val="000000"/>
                </a:solidFill>
              </a:rPr>
              <a:t>: probabilidade de apreensão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000000"/>
                </a:solidFill>
              </a:rPr>
              <a:t>Quando </a:t>
            </a:r>
            <a:r>
              <a:rPr lang="pt-BR" sz="1700" b="1" dirty="0">
                <a:solidFill>
                  <a:srgbClr val="000000"/>
                </a:solidFill>
              </a:rPr>
              <a:t>𝑏</a:t>
            </a:r>
            <a:r>
              <a:rPr lang="pt-BR" sz="1700" dirty="0">
                <a:solidFill>
                  <a:srgbClr val="000000"/>
                </a:solidFill>
              </a:rPr>
              <a:t> supera </a:t>
            </a:r>
            <a:r>
              <a:rPr lang="pt-BR" sz="1700" b="1" dirty="0">
                <a:solidFill>
                  <a:srgbClr val="000000"/>
                </a:solidFill>
              </a:rPr>
              <a:t>𝑐𝑝</a:t>
            </a:r>
            <a:r>
              <a:rPr lang="pt-BR" sz="1700" dirty="0">
                <a:solidFill>
                  <a:srgbClr val="000000"/>
                </a:solidFill>
              </a:rPr>
              <a:t> indivíduo tem incentivo para cometer crime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>
              <a:solidFill>
                <a:srgbClr val="000000"/>
              </a:solidFill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4294967295"/>
          </p:nvPr>
        </p:nvSpPr>
        <p:spPr>
          <a:xfrm>
            <a:off x="4843700" y="1065374"/>
            <a:ext cx="4001100" cy="36850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Danos</a:t>
            </a:r>
          </a:p>
          <a:p>
            <a:pPr lvl="1" indent="-336550">
              <a:buClr>
                <a:srgbClr val="000000"/>
              </a:buClr>
              <a:buSzPts val="1700"/>
              <a:buChar char="●"/>
            </a:pPr>
            <a:r>
              <a:rPr lang="pt-BR" sz="1200" dirty="0">
                <a:solidFill>
                  <a:srgbClr val="000000"/>
                </a:solidFill>
              </a:rPr>
              <a:t>Maior atividade criminal, mais danos a sociedade.</a:t>
            </a:r>
            <a:endParaRPr sz="1200" dirty="0">
              <a:solidFill>
                <a:srgbClr val="000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Custo de Apreensão e Convicção</a:t>
            </a:r>
          </a:p>
          <a:p>
            <a:pPr lvl="1" indent="-336550">
              <a:buClr>
                <a:srgbClr val="000000"/>
              </a:buClr>
              <a:buSzPts val="1700"/>
              <a:buChar char="●"/>
            </a:pPr>
            <a:r>
              <a:rPr lang="pt-BR" sz="1200" dirty="0">
                <a:solidFill>
                  <a:srgbClr val="000000"/>
                </a:solidFill>
              </a:rPr>
              <a:t>Aumentar probabilidade de convicção aumenta custo total da ação criminosa. (Esforços que envolvem convicção)</a:t>
            </a:r>
            <a:endParaRPr sz="1200" dirty="0">
              <a:solidFill>
                <a:srgbClr val="000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Ofensas</a:t>
            </a:r>
          </a:p>
          <a:p>
            <a:pPr lvl="1" indent="-336550">
              <a:buClr>
                <a:srgbClr val="000000"/>
              </a:buClr>
              <a:buSzPts val="1700"/>
              <a:buChar char="●"/>
            </a:pPr>
            <a:r>
              <a:rPr lang="pt-BR" sz="1200" dirty="0">
                <a:solidFill>
                  <a:srgbClr val="000000"/>
                </a:solidFill>
              </a:rPr>
              <a:t>Reduzir utilidade esperada por ofensa (Probabilidade de condenação, punição e outros)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 dirty="0">
                <a:solidFill>
                  <a:srgbClr val="000000"/>
                </a:solidFill>
              </a:rPr>
              <a:t>Punição</a:t>
            </a:r>
          </a:p>
          <a:p>
            <a:pPr lvl="1" indent="-336550">
              <a:buClr>
                <a:srgbClr val="000000"/>
              </a:buClr>
              <a:buSzPts val="1700"/>
              <a:buChar char="●"/>
            </a:pPr>
            <a:r>
              <a:rPr lang="pt-BR" sz="1200" dirty="0">
                <a:solidFill>
                  <a:srgbClr val="000000"/>
                </a:solidFill>
              </a:rPr>
              <a:t>Punição que caiba ao crime</a:t>
            </a: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>
              <a:solidFill>
                <a:srgbClr val="000000"/>
              </a:solidFill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4578250" y="1232750"/>
            <a:ext cx="0" cy="334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III. REVISÃO DA LITERATURA</a:t>
            </a:r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3730500" cy="3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QUAIS AS VARIÁVEIS SOCIOECONÔMICAS QUE IMPACTAM AS ATIVIDADES CRIMINAIS?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200" y="1065375"/>
            <a:ext cx="5006749" cy="32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METODOLOGIA</a:t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1883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Relação MQO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9982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38082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Determinar Matriz de Vizinhança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6181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Confirmar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74281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Escolher Regressão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7384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5483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3583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71682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4055100" cy="3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REGRESSÃO STEPWISE </a:t>
            </a:r>
            <a:endParaRPr sz="1700" b="1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>
                <a:solidFill>
                  <a:srgbClr val="000000"/>
                </a:solidFill>
              </a:rPr>
              <a:t>Técnica que inicia com um modelo completo e em cada passo, elimina gradualmente variáveis independentes do modelo de regressão</a:t>
            </a:r>
            <a:endParaRPr sz="170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pt-BR" sz="1700" b="1">
                <a:solidFill>
                  <a:srgbClr val="000000"/>
                </a:solidFill>
              </a:rPr>
              <a:t>Dependente:</a:t>
            </a:r>
            <a:r>
              <a:rPr lang="pt-BR" sz="1700">
                <a:solidFill>
                  <a:srgbClr val="000000"/>
                </a:solidFill>
              </a:rPr>
              <a:t> Taxa de Homicídio por 100 mil Habitantes Suavizada em Log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RESULTADOS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775" y="1331512"/>
            <a:ext cx="4824225" cy="24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RESULTADOS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8200"/>
            <a:ext cx="9144000" cy="412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050" y="46323"/>
            <a:ext cx="4074882" cy="509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METODOLOGIA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1883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Relação MQO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19982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38082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Determinar Matriz de Vizinhança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56181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Confirmar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74281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Escolher Regressão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7384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35483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3583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71682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63" y="20663"/>
            <a:ext cx="7657664" cy="51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METODOLOGIA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1883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Relação MQO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19982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38082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Determinar Matriz de Vizinhança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56181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Confirmar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74281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Escolher Regressão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17384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35483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53583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71682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00" y="574650"/>
            <a:ext cx="8737999" cy="38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METODOLOGIA</a:t>
            </a:r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1883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Relação MQO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19982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38082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Determinar Matriz de Vizinhança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56181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Confirmar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74281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Escolher Regressão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17384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35483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3583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71682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00" y="656500"/>
            <a:ext cx="8346000" cy="37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25" y="391625"/>
            <a:ext cx="8840550" cy="41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25" y="57088"/>
            <a:ext cx="7798551" cy="50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METODOLOGIA</a:t>
            </a:r>
            <a:endParaRPr/>
          </a:p>
        </p:txBody>
      </p:sp>
      <p:sp>
        <p:nvSpPr>
          <p:cNvPr id="225" name="Google Shape;225;p31"/>
          <p:cNvSpPr/>
          <p:nvPr/>
        </p:nvSpPr>
        <p:spPr>
          <a:xfrm>
            <a:off x="1883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Relação MQO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19982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Investigar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38082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Determinar Matriz de Vizinhança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561815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Confirmar Autocorrelação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7428100" y="2453950"/>
            <a:ext cx="1527600" cy="6237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Escolher Regressão Espacial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17384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35483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535832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7168275" y="2693200"/>
            <a:ext cx="237300" cy="14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IV. RESULTADOS</a:t>
            </a:r>
            <a:endParaRPr/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350" y="1000375"/>
            <a:ext cx="4525299" cy="414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>
            <a:off x="4623175" y="4239675"/>
            <a:ext cx="828900" cy="418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00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5571525" y="4342275"/>
            <a:ext cx="444300" cy="213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body" idx="4294967295"/>
          </p:nvPr>
        </p:nvSpPr>
        <p:spPr>
          <a:xfrm>
            <a:off x="311700" y="1065375"/>
            <a:ext cx="5447700" cy="9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pt-BR" sz="1700" b="1">
                <a:solidFill>
                  <a:srgbClr val="000000"/>
                </a:solidFill>
              </a:rPr>
              <a:t>SELEÇÃO MODELO REGRESSÃO ESPACIAL</a:t>
            </a:r>
            <a:r>
              <a:rPr lang="pt-BR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sp>
        <p:nvSpPr>
          <p:cNvPr id="247" name="Google Shape;247;p33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IV. RESULTADOS</a:t>
            </a:r>
            <a:endParaRPr dirty="0"/>
          </a:p>
        </p:txBody>
      </p:sp>
      <p:pic>
        <p:nvPicPr>
          <p:cNvPr id="248" name="Google Shape;2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850" y="1606875"/>
            <a:ext cx="5370900" cy="32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950" y="51050"/>
            <a:ext cx="3376575" cy="50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>
            <a:spLocks noGrp="1"/>
          </p:cNvSpPr>
          <p:nvPr>
            <p:ph type="body" idx="4294967295"/>
          </p:nvPr>
        </p:nvSpPr>
        <p:spPr>
          <a:xfrm>
            <a:off x="0" y="51050"/>
            <a:ext cx="4460700" cy="19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 b="1">
                <a:solidFill>
                  <a:srgbClr val="000000"/>
                </a:solidFill>
              </a:rPr>
              <a:t>Spatial Lag (SAR) é utilizado para regressão quando a variável dependente é influenciada pelo seus vizinhos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 b="1">
                <a:solidFill>
                  <a:srgbClr val="000000"/>
                </a:solidFill>
              </a:rPr>
              <a:t>Cuidado ao analisar R2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 b="1">
                <a:solidFill>
                  <a:srgbClr val="000000"/>
                </a:solidFill>
              </a:rPr>
              <a:t>Queda no AIC e aumento da LOG-LIKELIHOOD indicam melhor ajuste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 sz="1400" b="1">
                <a:solidFill>
                  <a:srgbClr val="000000"/>
                </a:solidFill>
              </a:rPr>
              <a:t>Rho indica força da associação espacial</a:t>
            </a:r>
            <a:endParaRPr sz="1400" b="1"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rgbClr val="000000"/>
              </a:solidFill>
            </a:endParaRPr>
          </a:p>
        </p:txBody>
      </p:sp>
      <p:pic>
        <p:nvPicPr>
          <p:cNvPr id="255" name="Google Shape;25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50" y="2562863"/>
            <a:ext cx="2565425" cy="5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524" y="1965213"/>
            <a:ext cx="1540600" cy="59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34"/>
          <p:cNvCxnSpPr/>
          <p:nvPr/>
        </p:nvCxnSpPr>
        <p:spPr>
          <a:xfrm rot="10800000">
            <a:off x="94343" y="1965234"/>
            <a:ext cx="427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4"/>
          <p:cNvCxnSpPr/>
          <p:nvPr/>
        </p:nvCxnSpPr>
        <p:spPr>
          <a:xfrm rot="10800000">
            <a:off x="94343" y="3178284"/>
            <a:ext cx="427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636" y="401925"/>
            <a:ext cx="5726737" cy="41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>
            <a:spLocks noGrp="1"/>
          </p:cNvSpPr>
          <p:nvPr>
            <p:ph type="title"/>
          </p:nvPr>
        </p:nvSpPr>
        <p:spPr>
          <a:xfrm>
            <a:off x="311700" y="21627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VI. CONCLUSÃO E DISCUSSÕES</a:t>
            </a:r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E7DDF8F-334C-A73C-6F3F-15A4FD9A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683" y="1054732"/>
            <a:ext cx="5692633" cy="39856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7;p33">
            <a:extLst>
              <a:ext uri="{FF2B5EF4-FFF2-40B4-BE49-F238E27FC236}">
                <a16:creationId xmlns:a16="http://schemas.microsoft.com/office/drawing/2014/main" id="{B89E4BFE-D037-ECE1-E982-62CF0C1907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69073" y="1834085"/>
            <a:ext cx="7805854" cy="1475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/>
              <a:t>O</a:t>
            </a:r>
            <a:r>
              <a:rPr lang="pt-BR" sz="8000" dirty="0"/>
              <a:t>BRIGADO!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2941177684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470</Words>
  <Application>Microsoft Office PowerPoint</Application>
  <PresentationFormat>Apresentação na tela (16:9)</PresentationFormat>
  <Paragraphs>96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Merriweather</vt:lpstr>
      <vt:lpstr>Roboto</vt:lpstr>
      <vt:lpstr>Paradigm</vt:lpstr>
      <vt:lpstr>Defesa Monografia </vt:lpstr>
      <vt:lpstr>CONTEÚDOS </vt:lpstr>
      <vt:lpstr>I. INTRODUÇÃO</vt:lpstr>
      <vt:lpstr>II. REFERENCIAL TEÓRICO </vt:lpstr>
      <vt:lpstr>II. REFERENCIAL TEÓRICO</vt:lpstr>
      <vt:lpstr>III. REVISÃO DA LITERATURA</vt:lpstr>
      <vt:lpstr>IV. METODOLOGIA</vt:lpstr>
      <vt:lpstr>IV. RESULTADOS</vt:lpstr>
      <vt:lpstr>IV. RESULTADOS</vt:lpstr>
      <vt:lpstr>Apresentação do PowerPoint</vt:lpstr>
      <vt:lpstr>IV. METODOLOGIA</vt:lpstr>
      <vt:lpstr>Apresentação do PowerPoint</vt:lpstr>
      <vt:lpstr>IV. METODOLOGIA</vt:lpstr>
      <vt:lpstr>Apresentação do PowerPoint</vt:lpstr>
      <vt:lpstr>IV. METODOLOGIA</vt:lpstr>
      <vt:lpstr>Apresentação do PowerPoint</vt:lpstr>
      <vt:lpstr>Apresentação do PowerPoint</vt:lpstr>
      <vt:lpstr>Apresentação do PowerPoint</vt:lpstr>
      <vt:lpstr>IV. METODOLOGIA</vt:lpstr>
      <vt:lpstr>IV. RESULTADOS</vt:lpstr>
      <vt:lpstr>IV. RESULTADOS</vt:lpstr>
      <vt:lpstr>Apresentação do PowerPoint</vt:lpstr>
      <vt:lpstr>Apresentação do PowerPoint</vt:lpstr>
      <vt:lpstr>VI. CONCLUSÃO E DISCUSSÕES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Monografia </dc:title>
  <cp:lastModifiedBy>Pedro Tricoli</cp:lastModifiedBy>
  <cp:revision>6</cp:revision>
  <dcterms:modified xsi:type="dcterms:W3CDTF">2023-12-05T20:40:34Z</dcterms:modified>
</cp:coreProperties>
</file>